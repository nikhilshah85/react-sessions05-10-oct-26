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5" d="100"/>
          <a:sy n="85" d="100"/>
        </p:scale>
        <p:origin x="398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38912" y="448056"/>
            <a:ext cx="73152" cy="329184"/>
          </a:xfrm>
          <a:prstGeom prst="rect">
            <a:avLst/>
          </a:prstGeom>
          <a:solidFill>
            <a:srgbClr val="A17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9319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00" b="1">
                <a:solidFill>
                  <a:srgbClr val="41D7DA"/>
                </a:solidFill>
                <a:latin typeface="Aptos"/>
              </a:defRPr>
            </a:pPr>
            <a:r>
              <a:t>A PRACTICAL 17-SLIDE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4183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3100" b="1">
                <a:solidFill>
                  <a:srgbClr val="F1F5FC"/>
                </a:solidFill>
                <a:latin typeface="Aptos"/>
              </a:defRPr>
            </a:pPr>
            <a:r>
              <a:t>Redux Toolkit, made simple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73952"/>
            <a:ext cx="10881360" cy="16459"/>
          </a:xfrm>
          <a:prstGeom prst="rect">
            <a:avLst/>
          </a:prstGeom>
          <a:solidFill>
            <a:srgbClr val="414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607040" y="651967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A3B1CA"/>
                </a:solidFill>
                <a:latin typeface="Aptos"/>
              </a:defRPr>
            </a:pPr>
            <a:r>
              <a:t>01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84831"/>
            <a:ext cx="9144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3000" b="0">
                <a:solidFill>
                  <a:srgbClr val="F1F5FC"/>
                </a:solidFill>
                <a:latin typeface="Aptos"/>
              </a:defRPr>
            </a:pPr>
            <a:r>
              <a:t>State management for modern React applications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3685032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A3B1CA"/>
                </a:solidFill>
                <a:latin typeface="Aptos"/>
              </a:defRPr>
            </a:pPr>
            <a:r>
              <a:t>Build a counter • Understand data flow • Apply it to real apps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4892040"/>
            <a:ext cx="3794760" cy="594360"/>
          </a:xfrm>
          <a:prstGeom prst="roundRect">
            <a:avLst/>
          </a:prstGeom>
          <a:solidFill>
            <a:srgbClr val="A17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87552" y="501091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0C1224"/>
                </a:solidFill>
                <a:latin typeface="Aptos"/>
              </a:defRPr>
            </a:pPr>
            <a:r>
              <a:t>HANDS-ON • BEGINNER FRIENDLY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38912" y="448056"/>
            <a:ext cx="73152" cy="329184"/>
          </a:xfrm>
          <a:prstGeom prst="rect">
            <a:avLst/>
          </a:prstGeom>
          <a:solidFill>
            <a:srgbClr val="A17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9319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00" b="1">
                <a:solidFill>
                  <a:srgbClr val="41D7DA"/>
                </a:solidFill>
                <a:latin typeface="Aptos"/>
              </a:defRPr>
            </a:pPr>
            <a:r>
              <a:t>REDUX TOOLKIT • REACT + TYPESCRIPT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4183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3100" b="1">
                <a:solidFill>
                  <a:srgbClr val="F1F5FC"/>
                </a:solidFill>
                <a:latin typeface="Aptos"/>
              </a:defRPr>
            </a:pPr>
            <a:r>
              <a:t>What you will learn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73952"/>
            <a:ext cx="10881360" cy="16459"/>
          </a:xfrm>
          <a:prstGeom prst="rect">
            <a:avLst/>
          </a:prstGeom>
          <a:solidFill>
            <a:srgbClr val="414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607040" y="651967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A3B1CA"/>
                </a:solidFill>
                <a:latin typeface="Aptos"/>
              </a:defRPr>
            </a:pPr>
            <a:r>
              <a:t>02 /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048256"/>
            <a:ext cx="91440" cy="91440"/>
          </a:xfrm>
          <a:prstGeom prst="roundRect">
            <a:avLst/>
          </a:prstGeom>
          <a:solidFill>
            <a:srgbClr val="41D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15568" y="1938528"/>
            <a:ext cx="101498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300" b="0">
                <a:solidFill>
                  <a:srgbClr val="F1F5FC"/>
                </a:solidFill>
                <a:latin typeface="Aptos"/>
              </a:defRPr>
            </a:pPr>
            <a:r>
              <a:t>Why shared state becomes difficult with props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798064"/>
            <a:ext cx="91440" cy="91440"/>
          </a:xfrm>
          <a:prstGeom prst="roundRect">
            <a:avLst/>
          </a:prstGeom>
          <a:solidFill>
            <a:srgbClr val="41D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15568" y="2688336"/>
            <a:ext cx="101498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300" b="0">
                <a:solidFill>
                  <a:srgbClr val="F1F5FC"/>
                </a:solidFill>
                <a:latin typeface="Aptos"/>
              </a:defRPr>
            </a:pPr>
            <a:r>
              <a:t>The Redux architecture: store, actions, reducers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547872"/>
            <a:ext cx="91440" cy="91440"/>
          </a:xfrm>
          <a:prstGeom prst="roundRect">
            <a:avLst/>
          </a:prstGeom>
          <a:solidFill>
            <a:srgbClr val="41D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15568" y="3438144"/>
            <a:ext cx="101498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300" b="0">
                <a:solidFill>
                  <a:srgbClr val="F1F5FC"/>
                </a:solidFill>
                <a:latin typeface="Aptos"/>
              </a:defRPr>
            </a:pPr>
            <a:r>
              <a:t>Create a slice and configure the store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297680"/>
            <a:ext cx="91440" cy="91440"/>
          </a:xfrm>
          <a:prstGeom prst="roundRect">
            <a:avLst/>
          </a:prstGeom>
          <a:solidFill>
            <a:srgbClr val="41D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15568" y="4187952"/>
            <a:ext cx="101498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300" b="0">
                <a:solidFill>
                  <a:srgbClr val="F1F5FC"/>
                </a:solidFill>
                <a:latin typeface="Aptos"/>
              </a:defRPr>
            </a:pPr>
            <a:r>
              <a:t>Connect React using Provider and hooks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5047488"/>
            <a:ext cx="91440" cy="91440"/>
          </a:xfrm>
          <a:prstGeom prst="roundRect">
            <a:avLst/>
          </a:prstGeom>
          <a:solidFill>
            <a:srgbClr val="41D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15568" y="4937760"/>
            <a:ext cx="101498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300" b="0">
                <a:solidFill>
                  <a:srgbClr val="F1F5FC"/>
                </a:solidFill>
                <a:latin typeface="Aptos"/>
              </a:defRPr>
            </a:pPr>
            <a:r>
              <a:t>Build, run, and extend a working counter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38912" y="448056"/>
            <a:ext cx="73152" cy="329184"/>
          </a:xfrm>
          <a:prstGeom prst="rect">
            <a:avLst/>
          </a:prstGeom>
          <a:solidFill>
            <a:srgbClr val="A17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9319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00" b="1">
                <a:solidFill>
                  <a:srgbClr val="41D7DA"/>
                </a:solidFill>
                <a:latin typeface="Aptos"/>
              </a:defRPr>
            </a:pPr>
            <a:r>
              <a:t>REDUX TOOLKIT • REACT + TYPESCRIPT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4183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3100" b="1">
                <a:solidFill>
                  <a:srgbClr val="F1F5FC"/>
                </a:solidFill>
                <a:latin typeface="Aptos"/>
              </a:defRPr>
            </a:pPr>
            <a:r>
              <a:t>The problem: sharing application state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73952"/>
            <a:ext cx="10881360" cy="16459"/>
          </a:xfrm>
          <a:prstGeom prst="rect">
            <a:avLst/>
          </a:prstGeom>
          <a:solidFill>
            <a:srgbClr val="414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607040" y="651967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A3B1CA"/>
                </a:solidFill>
                <a:latin typeface="Aptos"/>
              </a:defRPr>
            </a:pPr>
            <a:r>
              <a:t>03 /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084831"/>
            <a:ext cx="3486911" cy="3246120"/>
          </a:xfrm>
          <a:prstGeom prst="roundRect">
            <a:avLst/>
          </a:prstGeom>
          <a:solidFill>
            <a:srgbClr val="1821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9536" y="2432304"/>
            <a:ext cx="3075431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41D7DA"/>
                </a:solidFill>
                <a:latin typeface="Aptos"/>
              </a:defRPr>
            </a:pPr>
            <a:r>
              <a:t>Component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3236976"/>
            <a:ext cx="3075431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F1F5FC"/>
                </a:solidFill>
                <a:latin typeface="Aptos"/>
              </a:defRPr>
            </a:pPr>
            <a:r>
              <a:t>Displays the cart count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7304" y="2084831"/>
            <a:ext cx="3486911" cy="3246120"/>
          </a:xfrm>
          <a:prstGeom prst="roundRect">
            <a:avLst/>
          </a:prstGeom>
          <a:solidFill>
            <a:srgbClr val="1821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56760" y="2432304"/>
            <a:ext cx="3075431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41D7DA"/>
                </a:solidFill>
                <a:latin typeface="Aptos"/>
              </a:defRPr>
            </a:pPr>
            <a:r>
              <a:t>Component 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6760" y="3236976"/>
            <a:ext cx="3075431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F1F5FC"/>
                </a:solidFill>
                <a:latin typeface="Aptos"/>
              </a:defRPr>
            </a:pPr>
            <a:r>
              <a:t>Adds a product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34527" y="2084831"/>
            <a:ext cx="3486911" cy="3246120"/>
          </a:xfrm>
          <a:prstGeom prst="roundRect">
            <a:avLst/>
          </a:prstGeom>
          <a:solidFill>
            <a:srgbClr val="1821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53983" y="2432304"/>
            <a:ext cx="3075431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41D7DA"/>
                </a:solidFill>
                <a:latin typeface="Aptos"/>
              </a:defRPr>
            </a:pPr>
            <a:r>
              <a:t>Component 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3983" y="3236976"/>
            <a:ext cx="3075431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F1F5FC"/>
                </a:solidFill>
                <a:latin typeface="Aptos"/>
              </a:defRPr>
            </a:pPr>
            <a:r>
              <a:t>Shows the total price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705856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A3B1CA"/>
                </a:solidFill>
                <a:latin typeface="Aptos"/>
              </a:defRPr>
            </a:pPr>
            <a:r>
              <a:t>Without a shared store, data often travels through multiple layers of props.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38912" y="448056"/>
            <a:ext cx="73152" cy="329184"/>
          </a:xfrm>
          <a:prstGeom prst="rect">
            <a:avLst/>
          </a:prstGeom>
          <a:solidFill>
            <a:srgbClr val="A17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9319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00" b="1">
                <a:solidFill>
                  <a:srgbClr val="41D7DA"/>
                </a:solidFill>
                <a:latin typeface="Aptos"/>
              </a:defRPr>
            </a:pPr>
            <a:r>
              <a:t>REDUX TOOLKIT • REACT + TYPESCRIPT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4183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3100" b="1">
                <a:solidFill>
                  <a:srgbClr val="F1F5FC"/>
                </a:solidFill>
                <a:latin typeface="Aptos"/>
              </a:defRPr>
            </a:pPr>
            <a:r>
              <a:t>Redux: one predictable state container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73952"/>
            <a:ext cx="10881360" cy="16459"/>
          </a:xfrm>
          <a:prstGeom prst="rect">
            <a:avLst/>
          </a:prstGeom>
          <a:solidFill>
            <a:srgbClr val="414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607040" y="651967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A3B1CA"/>
                </a:solidFill>
                <a:latin typeface="Aptos"/>
              </a:defRPr>
            </a:pPr>
            <a:r>
              <a:t>04 /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084831"/>
            <a:ext cx="3486911" cy="3246120"/>
          </a:xfrm>
          <a:prstGeom prst="roundRect">
            <a:avLst/>
          </a:prstGeom>
          <a:solidFill>
            <a:srgbClr val="1821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9536" y="2432304"/>
            <a:ext cx="3075431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41D7DA"/>
                </a:solidFill>
                <a:latin typeface="Aptos"/>
              </a:defRPr>
            </a:pPr>
            <a:r>
              <a:t>STORE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3236976"/>
            <a:ext cx="3075431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F1F5FC"/>
                </a:solidFill>
                <a:latin typeface="Aptos"/>
              </a:defRPr>
            </a:pPr>
            <a:r>
              <a:t>Single source of truth for shared application data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7304" y="2084831"/>
            <a:ext cx="3486911" cy="3246120"/>
          </a:xfrm>
          <a:prstGeom prst="roundRect">
            <a:avLst/>
          </a:prstGeom>
          <a:solidFill>
            <a:srgbClr val="1821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56760" y="2432304"/>
            <a:ext cx="3075431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41D7DA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6760" y="3236976"/>
            <a:ext cx="3075431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F1F5FC"/>
                </a:solidFill>
                <a:latin typeface="Aptos"/>
              </a:defRPr>
            </a:pPr>
            <a:r>
              <a:t>Describes what happened in the UI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34527" y="2084831"/>
            <a:ext cx="3486911" cy="3246120"/>
          </a:xfrm>
          <a:prstGeom prst="roundRect">
            <a:avLst/>
          </a:prstGeom>
          <a:solidFill>
            <a:srgbClr val="1821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53983" y="2432304"/>
            <a:ext cx="3075431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41D7DA"/>
                </a:solidFill>
                <a:latin typeface="Aptos"/>
              </a:defRPr>
            </a:pPr>
            <a:r>
              <a:t>REDUCER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3983" y="3236976"/>
            <a:ext cx="3075431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F1F5FC"/>
                </a:solidFill>
                <a:latin typeface="Aptos"/>
              </a:defRPr>
            </a:pPr>
            <a:r>
              <a:t>Calculates the next state from an 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7424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6EE5AC"/>
                </a:solidFill>
                <a:latin typeface="Aptos"/>
              </a:defRPr>
            </a:pPr>
            <a:r>
              <a:t>Redux Toolkit is the recommended modern way to write Redux logic.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38912" y="448056"/>
            <a:ext cx="73152" cy="329184"/>
          </a:xfrm>
          <a:prstGeom prst="rect">
            <a:avLst/>
          </a:prstGeom>
          <a:solidFill>
            <a:srgbClr val="A17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9319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00" b="1">
                <a:solidFill>
                  <a:srgbClr val="41D7DA"/>
                </a:solidFill>
                <a:latin typeface="Aptos"/>
              </a:defRPr>
            </a:pPr>
            <a:r>
              <a:t>REDUX TOOLKIT • REACT + TYPESCRIPT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4183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3100" b="1">
                <a:solidFill>
                  <a:srgbClr val="F1F5FC"/>
                </a:solidFill>
                <a:latin typeface="Aptos"/>
              </a:defRPr>
            </a:pPr>
            <a:r>
              <a:t>Unidirectional data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73952"/>
            <a:ext cx="10881360" cy="16459"/>
          </a:xfrm>
          <a:prstGeom prst="rect">
            <a:avLst/>
          </a:prstGeom>
          <a:solidFill>
            <a:srgbClr val="414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607040" y="651967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A3B1CA"/>
                </a:solidFill>
                <a:latin typeface="Aptos"/>
              </a:defRPr>
            </a:pPr>
            <a:r>
              <a:t>05 /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340864"/>
            <a:ext cx="2130552" cy="1920240"/>
          </a:xfrm>
          <a:prstGeom prst="roundRect">
            <a:avLst/>
          </a:prstGeom>
          <a:solidFill>
            <a:srgbClr val="1821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0664" y="2578608"/>
            <a:ext cx="187451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41D7DA"/>
                </a:solidFill>
                <a:latin typeface="Aptos"/>
              </a:defRPr>
            </a:pPr>
            <a:r>
              <a:t>01  UI EVENT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" y="3264408"/>
            <a:ext cx="184708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F1F5FC"/>
                </a:solidFill>
                <a:latin typeface="Aptos"/>
              </a:defRPr>
            </a:pPr>
            <a:r>
              <a:t>User clicks 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34056" y="3054096"/>
            <a:ext cx="210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A179F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79" y="2340864"/>
            <a:ext cx="2130552" cy="1920240"/>
          </a:xfrm>
          <a:prstGeom prst="roundRect">
            <a:avLst/>
          </a:prstGeom>
          <a:solidFill>
            <a:srgbClr val="1821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072384" y="2578608"/>
            <a:ext cx="187451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41D7DA"/>
                </a:solidFill>
                <a:latin typeface="Aptos"/>
              </a:defRPr>
            </a:pPr>
            <a:r>
              <a:t>02  DISPATCH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72384" y="3264408"/>
            <a:ext cx="184708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F1F5FC"/>
                </a:solidFill>
                <a:latin typeface="Aptos"/>
              </a:defRPr>
            </a:pPr>
            <a:r>
              <a:t>increment() 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65775" y="3054096"/>
            <a:ext cx="210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A179F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57800" y="2340864"/>
            <a:ext cx="2130552" cy="1920240"/>
          </a:xfrm>
          <a:prstGeom prst="roundRect">
            <a:avLst/>
          </a:prstGeom>
          <a:solidFill>
            <a:srgbClr val="1821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04104" y="2578608"/>
            <a:ext cx="187451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41D7DA"/>
                </a:solidFill>
                <a:latin typeface="Aptos"/>
              </a:defRPr>
            </a:pPr>
            <a:r>
              <a:t>03  REDUCER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04104" y="3264408"/>
            <a:ext cx="184708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F1F5FC"/>
                </a:solidFill>
                <a:latin typeface="Aptos"/>
              </a:defRPr>
            </a:pPr>
            <a:r>
              <a:t>value = value + 1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97496" y="3054096"/>
            <a:ext cx="210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A179F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89519" y="2340864"/>
            <a:ext cx="2130552" cy="1920240"/>
          </a:xfrm>
          <a:prstGeom prst="roundRect">
            <a:avLst/>
          </a:prstGeom>
          <a:solidFill>
            <a:srgbClr val="1821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35823" y="2578608"/>
            <a:ext cx="187451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41D7DA"/>
                </a:solidFill>
                <a:latin typeface="Aptos"/>
              </a:defRPr>
            </a:pPr>
            <a:r>
              <a:t>04  STORE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35823" y="3264408"/>
            <a:ext cx="184708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F1F5FC"/>
                </a:solidFill>
                <a:latin typeface="Aptos"/>
              </a:defRPr>
            </a:pPr>
            <a:r>
              <a:t>State is updated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29215" y="3054096"/>
            <a:ext cx="210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A179F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921240" y="2340864"/>
            <a:ext cx="2130552" cy="1920240"/>
          </a:xfrm>
          <a:prstGeom prst="roundRect">
            <a:avLst/>
          </a:prstGeom>
          <a:solidFill>
            <a:srgbClr val="1821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067544" y="2578608"/>
            <a:ext cx="187451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41D7DA"/>
                </a:solidFill>
                <a:latin typeface="Aptos"/>
              </a:defRPr>
            </a:pPr>
            <a:r>
              <a:t>05  SELECTOR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67544" y="3264408"/>
            <a:ext cx="184708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F1F5FC"/>
                </a:solidFill>
                <a:latin typeface="Aptos"/>
              </a:defRPr>
            </a:pPr>
            <a:r>
              <a:t>React reads new value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919472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 b="0">
                <a:solidFill>
                  <a:srgbClr val="A3B1CA"/>
                </a:solidFill>
                <a:latin typeface="Aptos"/>
              </a:defRPr>
            </a:pPr>
            <a:r>
              <a:t>The data flow always moves in one direction, making updates easier to trace.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38912" y="448056"/>
            <a:ext cx="73152" cy="329184"/>
          </a:xfrm>
          <a:prstGeom prst="rect">
            <a:avLst/>
          </a:prstGeom>
          <a:solidFill>
            <a:srgbClr val="A17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9319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00" b="1">
                <a:solidFill>
                  <a:srgbClr val="41D7DA"/>
                </a:solidFill>
                <a:latin typeface="Aptos"/>
              </a:defRPr>
            </a:pPr>
            <a:r>
              <a:t>REDUX TOOLKIT • REACT + TYPESCRIPT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4183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3100" b="1">
                <a:solidFill>
                  <a:srgbClr val="F1F5FC"/>
                </a:solidFill>
                <a:latin typeface="Aptos"/>
              </a:defRPr>
            </a:pPr>
            <a:r>
              <a:t>Create the 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73952"/>
            <a:ext cx="10881360" cy="16459"/>
          </a:xfrm>
          <a:prstGeom prst="rect">
            <a:avLst/>
          </a:prstGeom>
          <a:solidFill>
            <a:srgbClr val="414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607040" y="651967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A3B1CA"/>
                </a:solidFill>
                <a:latin typeface="Aptos"/>
              </a:defRPr>
            </a:pPr>
            <a:r>
              <a:t>06 /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920240"/>
            <a:ext cx="10607040" cy="3474720"/>
          </a:xfrm>
          <a:prstGeom prst="roundRect">
            <a:avLst/>
          </a:prstGeom>
          <a:solidFill>
            <a:srgbClr val="1821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2121408"/>
            <a:ext cx="10104119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300" b="0">
                <a:solidFill>
                  <a:srgbClr val="DAEBF9"/>
                </a:solidFill>
                <a:latin typeface="Consolas"/>
              </a:defRPr>
            </a:pPr>
            <a:r>
              <a:t>npm create vite@latest redux-demo -- --template react-ts</a:t>
            </a:r>
          </a:p>
          <a:p>
            <a:pPr>
              <a:spcAft>
                <a:spcPts val="900"/>
              </a:spcAft>
              <a:defRPr sz="2300" b="0">
                <a:solidFill>
                  <a:srgbClr val="DAEBF9"/>
                </a:solidFill>
                <a:latin typeface="Consolas"/>
              </a:defRPr>
            </a:pPr>
            <a:r>
              <a:t>cd redux-demo</a:t>
            </a:r>
          </a:p>
          <a:p>
            <a:pPr>
              <a:spcAft>
                <a:spcPts val="900"/>
              </a:spcAft>
              <a:defRPr sz="2300" b="0">
                <a:solidFill>
                  <a:srgbClr val="DAEBF9"/>
                </a:solidFill>
                <a:latin typeface="Consolas"/>
              </a:defRPr>
            </a:pPr>
            <a:r>
              <a:t>npm install</a:t>
            </a:r>
          </a:p>
          <a:p>
            <a:pPr>
              <a:spcAft>
                <a:spcPts val="900"/>
              </a:spcAft>
              <a:defRPr sz="2300" b="0">
                <a:solidFill>
                  <a:srgbClr val="DAEBF9"/>
                </a:solidFill>
                <a:latin typeface="Consolas"/>
              </a:defRPr>
            </a:pPr>
            <a:endParaRPr/>
          </a:p>
          <a:p>
            <a:pPr>
              <a:spcAft>
                <a:spcPts val="900"/>
              </a:spcAft>
              <a:defRPr sz="2300" b="0">
                <a:solidFill>
                  <a:srgbClr val="DAEBF9"/>
                </a:solidFill>
                <a:latin typeface="Consolas"/>
              </a:defRPr>
            </a:pPr>
            <a:r>
              <a:t>npm install @reduxjs/toolkit react-redux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632704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6EE5AC"/>
                </a:solidFill>
                <a:latin typeface="Aptos"/>
              </a:defRPr>
            </a:pPr>
            <a:r>
              <a:t>Toolkit creates Redux logic • React Redux connects the store to components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38912" y="448056"/>
            <a:ext cx="73152" cy="329184"/>
          </a:xfrm>
          <a:prstGeom prst="rect">
            <a:avLst/>
          </a:prstGeom>
          <a:solidFill>
            <a:srgbClr val="A17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9319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00" b="1">
                <a:solidFill>
                  <a:srgbClr val="41D7DA"/>
                </a:solidFill>
                <a:latin typeface="Aptos"/>
              </a:defRPr>
            </a:pPr>
            <a:r>
              <a:t>REDUX TOOLKIT • REACT + TYPESCRIPT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4183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3100" b="1">
                <a:solidFill>
                  <a:srgbClr val="F1F5FC"/>
                </a:solidFill>
                <a:latin typeface="Aptos"/>
              </a:defRPr>
            </a:pPr>
            <a:r>
              <a:t>Organize the 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73952"/>
            <a:ext cx="10881360" cy="16459"/>
          </a:xfrm>
          <a:prstGeom prst="rect">
            <a:avLst/>
          </a:prstGeom>
          <a:solidFill>
            <a:srgbClr val="414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607040" y="651967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A3B1CA"/>
                </a:solidFill>
                <a:latin typeface="Aptos"/>
              </a:defRPr>
            </a:pPr>
            <a:r>
              <a:t>07 /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1874519"/>
            <a:ext cx="6035040" cy="4206240"/>
          </a:xfrm>
          <a:prstGeom prst="roundRect">
            <a:avLst/>
          </a:prstGeom>
          <a:solidFill>
            <a:srgbClr val="1821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34440" y="2075688"/>
            <a:ext cx="5532120" cy="3840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 b="0">
                <a:solidFill>
                  <a:srgbClr val="DAEBF9"/>
                </a:solidFill>
                <a:latin typeface="Consolas"/>
              </a:defRPr>
            </a:pPr>
            <a:r>
              <a:t>src/</a:t>
            </a:r>
          </a:p>
          <a:p>
            <a:pPr>
              <a:spcAft>
                <a:spcPts val="900"/>
              </a:spcAft>
              <a:defRPr sz="2000" b="0">
                <a:solidFill>
                  <a:srgbClr val="DAEBF9"/>
                </a:solidFill>
                <a:latin typeface="Consolas"/>
              </a:defRPr>
            </a:pPr>
            <a:r>
              <a:t>  app/</a:t>
            </a:r>
          </a:p>
          <a:p>
            <a:pPr>
              <a:spcAft>
                <a:spcPts val="900"/>
              </a:spcAft>
              <a:defRPr sz="2000" b="0">
                <a:solidFill>
                  <a:srgbClr val="DAEBF9"/>
                </a:solidFill>
                <a:latin typeface="Consolas"/>
              </a:defRPr>
            </a:pPr>
            <a:r>
              <a:t>    store.ts</a:t>
            </a:r>
          </a:p>
          <a:p>
            <a:pPr>
              <a:spcAft>
                <a:spcPts val="900"/>
              </a:spcAft>
              <a:defRPr sz="2000" b="0">
                <a:solidFill>
                  <a:srgbClr val="DAEBF9"/>
                </a:solidFill>
                <a:latin typeface="Consolas"/>
              </a:defRPr>
            </a:pPr>
            <a:r>
              <a:t>  features/</a:t>
            </a:r>
          </a:p>
          <a:p>
            <a:pPr>
              <a:spcAft>
                <a:spcPts val="900"/>
              </a:spcAft>
              <a:defRPr sz="2000" b="0">
                <a:solidFill>
                  <a:srgbClr val="DAEBF9"/>
                </a:solidFill>
                <a:latin typeface="Consolas"/>
              </a:defRPr>
            </a:pPr>
            <a:r>
              <a:t>    counter/</a:t>
            </a:r>
          </a:p>
          <a:p>
            <a:pPr>
              <a:spcAft>
                <a:spcPts val="900"/>
              </a:spcAft>
              <a:defRPr sz="2000" b="0">
                <a:solidFill>
                  <a:srgbClr val="DAEBF9"/>
                </a:solidFill>
                <a:latin typeface="Consolas"/>
              </a:defRPr>
            </a:pPr>
            <a:r>
              <a:t>      counterSlice.ts</a:t>
            </a:r>
          </a:p>
          <a:p>
            <a:pPr>
              <a:spcAft>
                <a:spcPts val="900"/>
              </a:spcAft>
              <a:defRPr sz="2000" b="0">
                <a:solidFill>
                  <a:srgbClr val="DAEBF9"/>
                </a:solidFill>
                <a:latin typeface="Consolas"/>
              </a:defRPr>
            </a:pPr>
            <a:r>
              <a:t>      Counter.tsx</a:t>
            </a:r>
          </a:p>
          <a:p>
            <a:pPr>
              <a:spcAft>
                <a:spcPts val="900"/>
              </a:spcAft>
              <a:defRPr sz="2000" b="0">
                <a:solidFill>
                  <a:srgbClr val="DAEBF9"/>
                </a:solidFill>
                <a:latin typeface="Consolas"/>
              </a:defRPr>
            </a:pPr>
            <a:r>
              <a:t>      Counter.css</a:t>
            </a:r>
          </a:p>
          <a:p>
            <a:pPr>
              <a:spcAft>
                <a:spcPts val="900"/>
              </a:spcAft>
              <a:defRPr sz="2000" b="0">
                <a:solidFill>
                  <a:srgbClr val="DAEBF9"/>
                </a:solidFill>
                <a:latin typeface="Consolas"/>
              </a:defRPr>
            </a:pPr>
            <a:r>
              <a:t>  App.tsx</a:t>
            </a:r>
          </a:p>
          <a:p>
            <a:pPr>
              <a:spcAft>
                <a:spcPts val="900"/>
              </a:spcAft>
              <a:defRPr sz="2000" b="0">
                <a:solidFill>
                  <a:srgbClr val="DAEBF9"/>
                </a:solidFill>
                <a:latin typeface="Consolas"/>
              </a:defRPr>
            </a:pPr>
            <a:r>
              <a:t>  main.tsx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0920" y="2304288"/>
            <a:ext cx="4023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400" b="1">
                <a:solidFill>
                  <a:srgbClr val="41D7DA"/>
                </a:solidFill>
                <a:latin typeface="Aptos"/>
              </a:defRPr>
            </a:pPr>
            <a:r>
              <a:t>Feature-based folders keep related state, UI, and styling together.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38912" y="448056"/>
            <a:ext cx="73152" cy="329184"/>
          </a:xfrm>
          <a:prstGeom prst="rect">
            <a:avLst/>
          </a:prstGeom>
          <a:solidFill>
            <a:srgbClr val="A17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9319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00" b="1">
                <a:solidFill>
                  <a:srgbClr val="41D7DA"/>
                </a:solidFill>
                <a:latin typeface="Aptos"/>
              </a:defRPr>
            </a:pPr>
            <a:r>
              <a:t>REDUX TOOLKIT • REACT + TYPESCRIPT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4183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3100" b="1">
                <a:solidFill>
                  <a:srgbClr val="F1F5FC"/>
                </a:solidFill>
                <a:latin typeface="Aptos"/>
              </a:defRPr>
            </a:pPr>
            <a:r>
              <a:t>Step 1 — Define a slice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73952"/>
            <a:ext cx="10881360" cy="16459"/>
          </a:xfrm>
          <a:prstGeom prst="rect">
            <a:avLst/>
          </a:prstGeom>
          <a:solidFill>
            <a:srgbClr val="414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607040" y="651967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A3B1CA"/>
                </a:solidFill>
                <a:latin typeface="Aptos"/>
              </a:defRPr>
            </a:pPr>
            <a:r>
              <a:t>08 /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881360" cy="4297680"/>
          </a:xfrm>
          <a:prstGeom prst="roundRect">
            <a:avLst/>
          </a:prstGeom>
          <a:solidFill>
            <a:srgbClr val="1821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029968"/>
            <a:ext cx="10378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DAEBF9"/>
                </a:solidFill>
                <a:latin typeface="Consolas"/>
              </a:defRPr>
            </a:pPr>
            <a:r>
              <a:t>import { createSlice } from "@reduxjs/toolkit";</a:t>
            </a:r>
          </a:p>
          <a:p>
            <a:pPr>
              <a:spcAft>
                <a:spcPts val="900"/>
              </a:spcAft>
              <a:defRPr sz="1800" b="0">
                <a:solidFill>
                  <a:srgbClr val="DAEBF9"/>
                </a:solidFill>
                <a:latin typeface="Consolas"/>
              </a:defRPr>
            </a:pPr>
            <a:endParaRPr/>
          </a:p>
          <a:p>
            <a:pPr>
              <a:spcAft>
                <a:spcPts val="900"/>
              </a:spcAft>
              <a:defRPr sz="1800" b="0">
                <a:solidFill>
                  <a:srgbClr val="DAEBF9"/>
                </a:solidFill>
                <a:latin typeface="Consolas"/>
              </a:defRPr>
            </a:pPr>
            <a:r>
              <a:t>const counterSlice = createSlice({</a:t>
            </a:r>
          </a:p>
          <a:p>
            <a:pPr>
              <a:spcAft>
                <a:spcPts val="900"/>
              </a:spcAft>
              <a:defRPr sz="1800" b="0">
                <a:solidFill>
                  <a:srgbClr val="DAEBF9"/>
                </a:solidFill>
                <a:latin typeface="Consolas"/>
              </a:defRPr>
            </a:pPr>
            <a:r>
              <a:t>  name: "counter",</a:t>
            </a:r>
          </a:p>
          <a:p>
            <a:pPr>
              <a:spcAft>
                <a:spcPts val="900"/>
              </a:spcAft>
              <a:defRPr sz="1800" b="0">
                <a:solidFill>
                  <a:srgbClr val="DAEBF9"/>
                </a:solidFill>
                <a:latin typeface="Consolas"/>
              </a:defRPr>
            </a:pPr>
            <a:r>
              <a:t>  initialState: { value: 0 },</a:t>
            </a:r>
          </a:p>
          <a:p>
            <a:pPr>
              <a:spcAft>
                <a:spcPts val="900"/>
              </a:spcAft>
              <a:defRPr sz="1800" b="0">
                <a:solidFill>
                  <a:srgbClr val="DAEBF9"/>
                </a:solidFill>
                <a:latin typeface="Consolas"/>
              </a:defRPr>
            </a:pPr>
            <a:r>
              <a:t>  reducers: {</a:t>
            </a:r>
          </a:p>
          <a:p>
            <a:pPr>
              <a:spcAft>
                <a:spcPts val="900"/>
              </a:spcAft>
              <a:defRPr sz="1800" b="0">
                <a:solidFill>
                  <a:srgbClr val="DAEBF9"/>
                </a:solidFill>
                <a:latin typeface="Consolas"/>
              </a:defRPr>
            </a:pPr>
            <a:r>
              <a:t>    increment: (state) =&gt; { state.value += 1; },</a:t>
            </a:r>
          </a:p>
          <a:p>
            <a:pPr>
              <a:spcAft>
                <a:spcPts val="900"/>
              </a:spcAft>
              <a:defRPr sz="1800" b="0">
                <a:solidFill>
                  <a:srgbClr val="DAEBF9"/>
                </a:solidFill>
                <a:latin typeface="Consolas"/>
              </a:defRPr>
            </a:pPr>
            <a:r>
              <a:t>    decrement: (state) =&gt; { state.value -= 1; },</a:t>
            </a:r>
          </a:p>
          <a:p>
            <a:pPr>
              <a:spcAft>
                <a:spcPts val="900"/>
              </a:spcAft>
              <a:defRPr sz="1800" b="0">
                <a:solidFill>
                  <a:srgbClr val="DAEBF9"/>
                </a:solidFill>
                <a:latin typeface="Consolas"/>
              </a:defRPr>
            </a:pPr>
            <a:r>
              <a:t>    reset: (state) =&gt; { state.value = 0; }</a:t>
            </a:r>
          </a:p>
          <a:p>
            <a:pPr>
              <a:spcAft>
                <a:spcPts val="900"/>
              </a:spcAft>
              <a:defRPr sz="1800" b="0">
                <a:solidFill>
                  <a:srgbClr val="DAEBF9"/>
                </a:solidFill>
                <a:latin typeface="Consolas"/>
              </a:defRPr>
            </a:pPr>
            <a:r>
              <a:t>  }</a:t>
            </a:r>
          </a:p>
          <a:p>
            <a:pPr>
              <a:spcAft>
                <a:spcPts val="900"/>
              </a:spcAft>
              <a:defRPr sz="1800" b="0">
                <a:solidFill>
                  <a:srgbClr val="DAEBF9"/>
                </a:solidFill>
                <a:latin typeface="Consolas"/>
              </a:defRPr>
            </a:pPr>
            <a:r>
              <a:t>});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38912" y="448056"/>
            <a:ext cx="73152" cy="329184"/>
          </a:xfrm>
          <a:prstGeom prst="rect">
            <a:avLst/>
          </a:prstGeom>
          <a:solidFill>
            <a:srgbClr val="A17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9319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00" b="1">
                <a:solidFill>
                  <a:srgbClr val="41D7DA"/>
                </a:solidFill>
                <a:latin typeface="Aptos"/>
              </a:defRPr>
            </a:pPr>
            <a:r>
              <a:t>REDUX TOOLKIT • REACT + TYPESCRIPT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4183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3100" b="1">
                <a:solidFill>
                  <a:srgbClr val="F1F5FC"/>
                </a:solidFill>
                <a:latin typeface="Aptos"/>
              </a:defRPr>
            </a:pPr>
            <a:r>
              <a:t>Step 2 — Export actions and reducer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73952"/>
            <a:ext cx="10881360" cy="16459"/>
          </a:xfrm>
          <a:prstGeom prst="rect">
            <a:avLst/>
          </a:prstGeom>
          <a:solidFill>
            <a:srgbClr val="414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607040" y="651967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A3B1CA"/>
                </a:solidFill>
                <a:latin typeface="Aptos"/>
              </a:defRPr>
            </a:pPr>
            <a:r>
              <a:t>09 /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993392"/>
            <a:ext cx="10607040" cy="2423160"/>
          </a:xfrm>
          <a:prstGeom prst="roundRect">
            <a:avLst/>
          </a:prstGeom>
          <a:solidFill>
            <a:srgbClr val="1821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2194560"/>
            <a:ext cx="10104119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300" b="0">
                <a:solidFill>
                  <a:srgbClr val="DAEBF9"/>
                </a:solidFill>
                <a:latin typeface="Consolas"/>
              </a:defRPr>
            </a:pPr>
            <a:r>
              <a:t>export const { increment, decrement, reset } =</a:t>
            </a:r>
          </a:p>
          <a:p>
            <a:pPr>
              <a:spcAft>
                <a:spcPts val="900"/>
              </a:spcAft>
              <a:defRPr sz="2300" b="0">
                <a:solidFill>
                  <a:srgbClr val="DAEBF9"/>
                </a:solidFill>
                <a:latin typeface="Consolas"/>
              </a:defRPr>
            </a:pPr>
            <a:r>
              <a:t>  counterSlice.actions;</a:t>
            </a:r>
          </a:p>
          <a:p>
            <a:pPr>
              <a:spcAft>
                <a:spcPts val="900"/>
              </a:spcAft>
              <a:defRPr sz="2300" b="0">
                <a:solidFill>
                  <a:srgbClr val="DAEBF9"/>
                </a:solidFill>
                <a:latin typeface="Consolas"/>
              </a:defRPr>
            </a:pPr>
            <a:endParaRPr/>
          </a:p>
          <a:p>
            <a:pPr>
              <a:spcAft>
                <a:spcPts val="900"/>
              </a:spcAft>
              <a:defRPr sz="2300" b="0">
                <a:solidFill>
                  <a:srgbClr val="DAEBF9"/>
                </a:solidFill>
                <a:latin typeface="Consolas"/>
              </a:defRPr>
            </a:pPr>
            <a:r>
              <a:t>export default counterSlice.reducer;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4882896"/>
            <a:ext cx="91440" cy="91440"/>
          </a:xfrm>
          <a:prstGeom prst="roundRect">
            <a:avLst/>
          </a:prstGeom>
          <a:solidFill>
            <a:srgbClr val="41D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4773168"/>
            <a:ext cx="9692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 b="0">
                <a:solidFill>
                  <a:srgbClr val="F1F5FC"/>
                </a:solidFill>
                <a:latin typeface="Aptos"/>
              </a:defRPr>
            </a:pPr>
            <a:r>
              <a:t>Actions are generated automatically by createSlice().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" y="5486400"/>
            <a:ext cx="91440" cy="91440"/>
          </a:xfrm>
          <a:prstGeom prst="roundRect">
            <a:avLst/>
          </a:prstGeom>
          <a:solidFill>
            <a:srgbClr val="41D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88720" y="5376672"/>
            <a:ext cx="9692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 b="0">
                <a:solidFill>
                  <a:srgbClr val="F1F5FC"/>
                </a:solidFill>
                <a:latin typeface="Aptos"/>
              </a:defRPr>
            </a:pPr>
            <a:r>
              <a:t>The reducer handles state updates for this feature.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38912" y="448056"/>
            <a:ext cx="73152" cy="329184"/>
          </a:xfrm>
          <a:prstGeom prst="rect">
            <a:avLst/>
          </a:prstGeom>
          <a:solidFill>
            <a:srgbClr val="A17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9319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00" b="1">
                <a:solidFill>
                  <a:srgbClr val="41D7DA"/>
                </a:solidFill>
                <a:latin typeface="Aptos"/>
              </a:defRPr>
            </a:pPr>
            <a:r>
              <a:t>REDUX TOOLKIT • REACT + TYPESCRIPT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4183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3100" b="1">
                <a:solidFill>
                  <a:srgbClr val="F1F5FC"/>
                </a:solidFill>
                <a:latin typeface="Aptos"/>
              </a:defRPr>
            </a:pPr>
            <a:r>
              <a:t>Step 3 — Configure the store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73952"/>
            <a:ext cx="10881360" cy="16459"/>
          </a:xfrm>
          <a:prstGeom prst="rect">
            <a:avLst/>
          </a:prstGeom>
          <a:solidFill>
            <a:srgbClr val="414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607040" y="651967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A3B1CA"/>
                </a:solidFill>
                <a:latin typeface="Aptos"/>
              </a:defRPr>
            </a:pPr>
            <a:r>
              <a:t>10 /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74519"/>
            <a:ext cx="10835640" cy="4389120"/>
          </a:xfrm>
          <a:prstGeom prst="roundRect">
            <a:avLst/>
          </a:prstGeom>
          <a:solidFill>
            <a:srgbClr val="1821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2075688"/>
            <a:ext cx="10332719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DAEBF9"/>
                </a:solidFill>
                <a:latin typeface="Consolas"/>
              </a:defRPr>
            </a:pPr>
            <a:r>
              <a:t>import { configureStore } from "@reduxjs/toolkit";</a:t>
            </a:r>
          </a:p>
          <a:p>
            <a:pPr>
              <a:spcAft>
                <a:spcPts val="900"/>
              </a:spcAft>
              <a:defRPr sz="1800" b="0">
                <a:solidFill>
                  <a:srgbClr val="DAEBF9"/>
                </a:solidFill>
                <a:latin typeface="Consolas"/>
              </a:defRPr>
            </a:pPr>
            <a:r>
              <a:t>import counterReducer from "../features/counter/counterSlice";</a:t>
            </a:r>
          </a:p>
          <a:p>
            <a:pPr>
              <a:spcAft>
                <a:spcPts val="900"/>
              </a:spcAft>
              <a:defRPr sz="1800" b="0">
                <a:solidFill>
                  <a:srgbClr val="DAEBF9"/>
                </a:solidFill>
                <a:latin typeface="Consolas"/>
              </a:defRPr>
            </a:pPr>
            <a:endParaRPr/>
          </a:p>
          <a:p>
            <a:pPr>
              <a:spcAft>
                <a:spcPts val="900"/>
              </a:spcAft>
              <a:defRPr sz="1800" b="0">
                <a:solidFill>
                  <a:srgbClr val="DAEBF9"/>
                </a:solidFill>
                <a:latin typeface="Consolas"/>
              </a:defRPr>
            </a:pPr>
            <a:r>
              <a:t>export const store = configureStore({</a:t>
            </a:r>
          </a:p>
          <a:p>
            <a:pPr>
              <a:spcAft>
                <a:spcPts val="900"/>
              </a:spcAft>
              <a:defRPr sz="1800" b="0">
                <a:solidFill>
                  <a:srgbClr val="DAEBF9"/>
                </a:solidFill>
                <a:latin typeface="Consolas"/>
              </a:defRPr>
            </a:pPr>
            <a:r>
              <a:t>  reducer: { counter: counterReducer }</a:t>
            </a:r>
          </a:p>
          <a:p>
            <a:pPr>
              <a:spcAft>
                <a:spcPts val="900"/>
              </a:spcAft>
              <a:defRPr sz="1800" b="0">
                <a:solidFill>
                  <a:srgbClr val="DAEBF9"/>
                </a:solidFill>
                <a:latin typeface="Consolas"/>
              </a:defRPr>
            </a:pPr>
            <a:r>
              <a:t>});</a:t>
            </a:r>
          </a:p>
          <a:p>
            <a:pPr>
              <a:spcAft>
                <a:spcPts val="900"/>
              </a:spcAft>
              <a:defRPr sz="1800" b="0">
                <a:solidFill>
                  <a:srgbClr val="DAEBF9"/>
                </a:solidFill>
                <a:latin typeface="Consolas"/>
              </a:defRPr>
            </a:pPr>
            <a:endParaRPr/>
          </a:p>
          <a:p>
            <a:pPr>
              <a:spcAft>
                <a:spcPts val="900"/>
              </a:spcAft>
              <a:defRPr sz="1800" b="0">
                <a:solidFill>
                  <a:srgbClr val="DAEBF9"/>
                </a:solidFill>
                <a:latin typeface="Consolas"/>
              </a:defRPr>
            </a:pPr>
            <a:r>
              <a:t>export type RootState = ReturnType&lt;typeof store.getState&gt;;</a:t>
            </a:r>
          </a:p>
          <a:p>
            <a:pPr>
              <a:spcAft>
                <a:spcPts val="900"/>
              </a:spcAft>
              <a:defRPr sz="1800" b="0">
                <a:solidFill>
                  <a:srgbClr val="DAEBF9"/>
                </a:solidFill>
                <a:latin typeface="Consolas"/>
              </a:defRPr>
            </a:pPr>
            <a:r>
              <a:t>export type AppDispatch = typeof store.dispatch;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38912" y="448056"/>
            <a:ext cx="73152" cy="329184"/>
          </a:xfrm>
          <a:prstGeom prst="rect">
            <a:avLst/>
          </a:prstGeom>
          <a:solidFill>
            <a:srgbClr val="A17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9319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00" b="1">
                <a:solidFill>
                  <a:srgbClr val="41D7DA"/>
                </a:solidFill>
                <a:latin typeface="Aptos"/>
              </a:defRPr>
            </a:pPr>
            <a:r>
              <a:t>REDUX TOOLKIT • REACT + TYPESCRIPT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4183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3100" b="1">
                <a:solidFill>
                  <a:srgbClr val="F1F5FC"/>
                </a:solidFill>
                <a:latin typeface="Aptos"/>
              </a:defRPr>
            </a:pPr>
            <a:r>
              <a:t>What does the store contain?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73952"/>
            <a:ext cx="10881360" cy="16459"/>
          </a:xfrm>
          <a:prstGeom prst="rect">
            <a:avLst/>
          </a:prstGeom>
          <a:solidFill>
            <a:srgbClr val="414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607040" y="651967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A3B1CA"/>
                </a:solidFill>
                <a:latin typeface="Aptos"/>
              </a:defRPr>
            </a:pPr>
            <a:r>
              <a:t>11 /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011680"/>
            <a:ext cx="5120640" cy="3246120"/>
          </a:xfrm>
          <a:prstGeom prst="roundRect">
            <a:avLst/>
          </a:prstGeom>
          <a:solidFill>
            <a:srgbClr val="1821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2212848"/>
            <a:ext cx="461772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700" b="0">
                <a:solidFill>
                  <a:srgbClr val="DAEBF9"/>
                </a:solidFill>
                <a:latin typeface="Consolas"/>
              </a:defRPr>
            </a:pPr>
            <a:r>
              <a:t>{</a:t>
            </a:r>
          </a:p>
          <a:p>
            <a:pPr>
              <a:spcAft>
                <a:spcPts val="900"/>
              </a:spcAft>
              <a:defRPr sz="2700" b="0">
                <a:solidFill>
                  <a:srgbClr val="DAEBF9"/>
                </a:solidFill>
                <a:latin typeface="Consolas"/>
              </a:defRPr>
            </a:pPr>
            <a:r>
              <a:t>  "counter": {</a:t>
            </a:r>
          </a:p>
          <a:p>
            <a:pPr>
              <a:spcAft>
                <a:spcPts val="900"/>
              </a:spcAft>
              <a:defRPr sz="2700" b="0">
                <a:solidFill>
                  <a:srgbClr val="DAEBF9"/>
                </a:solidFill>
                <a:latin typeface="Consolas"/>
              </a:defRPr>
            </a:pPr>
            <a:r>
              <a:t>    "value": 0</a:t>
            </a:r>
          </a:p>
          <a:p>
            <a:pPr>
              <a:spcAft>
                <a:spcPts val="900"/>
              </a:spcAft>
              <a:defRPr sz="2700" b="0">
                <a:solidFill>
                  <a:srgbClr val="DAEBF9"/>
                </a:solidFill>
                <a:latin typeface="Consolas"/>
              </a:defRPr>
            </a:pPr>
            <a:r>
              <a:t>  }</a:t>
            </a:r>
          </a:p>
          <a:p>
            <a:pPr>
              <a:spcAft>
                <a:spcPts val="900"/>
              </a:spcAft>
              <a:defRPr sz="2700" b="0">
                <a:solidFill>
                  <a:srgbClr val="DAEBF9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404872"/>
            <a:ext cx="4937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 b="0">
                <a:solidFill>
                  <a:srgbClr val="F1F5FC"/>
                </a:solidFill>
                <a:latin typeface="Aptos"/>
              </a:defRPr>
            </a:pPr>
            <a:r>
              <a:t>counter = slice key</a:t>
            </a:r>
          </a:p>
          <a:p>
            <a:pPr>
              <a:spcAft>
                <a:spcPts val="900"/>
              </a:spcAft>
              <a:defRPr sz="2100" b="0">
                <a:solidFill>
                  <a:srgbClr val="F1F5FC"/>
                </a:solidFill>
                <a:latin typeface="Aptos"/>
              </a:defRPr>
            </a:pPr>
            <a:endParaRPr/>
          </a:p>
          <a:p>
            <a:pPr>
              <a:spcAft>
                <a:spcPts val="900"/>
              </a:spcAft>
              <a:defRPr sz="2100" b="0">
                <a:solidFill>
                  <a:srgbClr val="F1F5FC"/>
                </a:solidFill>
                <a:latin typeface="Aptos"/>
              </a:defRPr>
            </a:pPr>
            <a:r>
              <a:t>value = state property</a:t>
            </a:r>
          </a:p>
          <a:p>
            <a:pPr>
              <a:spcAft>
                <a:spcPts val="900"/>
              </a:spcAft>
              <a:defRPr sz="2100" b="0">
                <a:solidFill>
                  <a:srgbClr val="F1F5FC"/>
                </a:solidFill>
                <a:latin typeface="Aptos"/>
              </a:defRPr>
            </a:pPr>
            <a:endParaRPr/>
          </a:p>
          <a:p>
            <a:pPr>
              <a:spcAft>
                <a:spcPts val="900"/>
              </a:spcAft>
              <a:defRPr sz="2100" b="0">
                <a:solidFill>
                  <a:srgbClr val="F1F5FC"/>
                </a:solidFill>
                <a:latin typeface="Aptos"/>
              </a:defRPr>
            </a:pPr>
            <a:r>
              <a:t>RootState = full state type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38912" y="448056"/>
            <a:ext cx="73152" cy="329184"/>
          </a:xfrm>
          <a:prstGeom prst="rect">
            <a:avLst/>
          </a:prstGeom>
          <a:solidFill>
            <a:srgbClr val="A17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9319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00" b="1">
                <a:solidFill>
                  <a:srgbClr val="41D7DA"/>
                </a:solidFill>
                <a:latin typeface="Aptos"/>
              </a:defRPr>
            </a:pPr>
            <a:r>
              <a:t>REDUX TOOLKIT • REACT + TYPESCRIPT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4183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3100" b="1">
                <a:solidFill>
                  <a:srgbClr val="F1F5FC"/>
                </a:solidFill>
                <a:latin typeface="Aptos"/>
              </a:defRPr>
            </a:pPr>
            <a:r>
              <a:t>Step 4 — Wrap the app in Provider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73952"/>
            <a:ext cx="10881360" cy="16459"/>
          </a:xfrm>
          <a:prstGeom prst="rect">
            <a:avLst/>
          </a:prstGeom>
          <a:solidFill>
            <a:srgbClr val="414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607040" y="651967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A3B1CA"/>
                </a:solidFill>
                <a:latin typeface="Aptos"/>
              </a:defRPr>
            </a:pPr>
            <a:r>
              <a:t>12 /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56231"/>
            <a:ext cx="10698480" cy="4389120"/>
          </a:xfrm>
          <a:prstGeom prst="roundRect">
            <a:avLst/>
          </a:prstGeom>
          <a:solidFill>
            <a:srgbClr val="1821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2057400"/>
            <a:ext cx="10195559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DAEBF9"/>
                </a:solidFill>
                <a:latin typeface="Consolas"/>
              </a:defRPr>
            </a:pPr>
            <a:r>
              <a:t>import { Provider } from "react-redux";</a:t>
            </a:r>
          </a:p>
          <a:p>
            <a:pPr>
              <a:spcAft>
                <a:spcPts val="900"/>
              </a:spcAft>
              <a:defRPr sz="1800" b="0">
                <a:solidFill>
                  <a:srgbClr val="DAEBF9"/>
                </a:solidFill>
                <a:latin typeface="Consolas"/>
              </a:defRPr>
            </a:pPr>
            <a:r>
              <a:t>import { store } from "./app/store";</a:t>
            </a:r>
          </a:p>
          <a:p>
            <a:pPr>
              <a:spcAft>
                <a:spcPts val="900"/>
              </a:spcAft>
              <a:defRPr sz="1800" b="0">
                <a:solidFill>
                  <a:srgbClr val="DAEBF9"/>
                </a:solidFill>
                <a:latin typeface="Consolas"/>
              </a:defRPr>
            </a:pPr>
            <a:endParaRPr/>
          </a:p>
          <a:p>
            <a:pPr>
              <a:spcAft>
                <a:spcPts val="900"/>
              </a:spcAft>
              <a:defRPr sz="1800" b="0">
                <a:solidFill>
                  <a:srgbClr val="DAEBF9"/>
                </a:solidFill>
                <a:latin typeface="Consolas"/>
              </a:defRPr>
            </a:pPr>
            <a:r>
              <a:t>ReactDOM.createRoot(document.getElementById("root")!).render(</a:t>
            </a:r>
          </a:p>
          <a:p>
            <a:pPr>
              <a:spcAft>
                <a:spcPts val="900"/>
              </a:spcAft>
              <a:defRPr sz="1800" b="0">
                <a:solidFill>
                  <a:srgbClr val="DAEBF9"/>
                </a:solidFill>
                <a:latin typeface="Consolas"/>
              </a:defRPr>
            </a:pPr>
            <a:r>
              <a:t>  &lt;React.StrictMode&gt;</a:t>
            </a:r>
          </a:p>
          <a:p>
            <a:pPr>
              <a:spcAft>
                <a:spcPts val="900"/>
              </a:spcAft>
              <a:defRPr sz="1800" b="0">
                <a:solidFill>
                  <a:srgbClr val="DAEBF9"/>
                </a:solidFill>
                <a:latin typeface="Consolas"/>
              </a:defRPr>
            </a:pPr>
            <a:r>
              <a:t>    &lt;Provider store={store}&gt;</a:t>
            </a:r>
          </a:p>
          <a:p>
            <a:pPr>
              <a:spcAft>
                <a:spcPts val="900"/>
              </a:spcAft>
              <a:defRPr sz="1800" b="0">
                <a:solidFill>
                  <a:srgbClr val="DAEBF9"/>
                </a:solidFill>
                <a:latin typeface="Consolas"/>
              </a:defRPr>
            </a:pPr>
            <a:r>
              <a:t>      &lt;App /&gt;</a:t>
            </a:r>
          </a:p>
          <a:p>
            <a:pPr>
              <a:spcAft>
                <a:spcPts val="900"/>
              </a:spcAft>
              <a:defRPr sz="1800" b="0">
                <a:solidFill>
                  <a:srgbClr val="DAEBF9"/>
                </a:solidFill>
                <a:latin typeface="Consolas"/>
              </a:defRPr>
            </a:pPr>
            <a:r>
              <a:t>    &lt;/Provider&gt;</a:t>
            </a:r>
          </a:p>
          <a:p>
            <a:pPr>
              <a:spcAft>
                <a:spcPts val="900"/>
              </a:spcAft>
              <a:defRPr sz="1800" b="0">
                <a:solidFill>
                  <a:srgbClr val="DAEBF9"/>
                </a:solidFill>
                <a:latin typeface="Consolas"/>
              </a:defRPr>
            </a:pPr>
            <a:r>
              <a:t>  &lt;/React.StrictMode&gt;</a:t>
            </a:r>
          </a:p>
          <a:p>
            <a:pPr>
              <a:spcAft>
                <a:spcPts val="900"/>
              </a:spcAft>
              <a:defRPr sz="1800" b="0">
                <a:solidFill>
                  <a:srgbClr val="DAEBF9"/>
                </a:solidFill>
                <a:latin typeface="Consolas"/>
              </a:defRPr>
            </a:pPr>
            <a:r>
              <a:t>);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38912" y="448056"/>
            <a:ext cx="73152" cy="329184"/>
          </a:xfrm>
          <a:prstGeom prst="rect">
            <a:avLst/>
          </a:prstGeom>
          <a:solidFill>
            <a:srgbClr val="A17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9319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00" b="1">
                <a:solidFill>
                  <a:srgbClr val="41D7DA"/>
                </a:solidFill>
                <a:latin typeface="Aptos"/>
              </a:defRPr>
            </a:pPr>
            <a:r>
              <a:t>REDUX TOOLKIT • REACT + TYPESCRIPT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4183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3100" b="1">
                <a:solidFill>
                  <a:srgbClr val="F1F5FC"/>
                </a:solidFill>
                <a:latin typeface="Aptos"/>
              </a:defRPr>
            </a:pPr>
            <a:r>
              <a:t>Step 5 — Read state with useSelector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73952"/>
            <a:ext cx="10881360" cy="16459"/>
          </a:xfrm>
          <a:prstGeom prst="rect">
            <a:avLst/>
          </a:prstGeom>
          <a:solidFill>
            <a:srgbClr val="414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607040" y="651967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A3B1CA"/>
                </a:solidFill>
                <a:latin typeface="Aptos"/>
              </a:defRPr>
            </a:pPr>
            <a:r>
              <a:t>13 /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65960"/>
            <a:ext cx="10698480" cy="3566160"/>
          </a:xfrm>
          <a:prstGeom prst="roundRect">
            <a:avLst/>
          </a:prstGeom>
          <a:solidFill>
            <a:srgbClr val="1821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2167128"/>
            <a:ext cx="10195559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 b="0">
                <a:solidFill>
                  <a:srgbClr val="DAEBF9"/>
                </a:solidFill>
                <a:latin typeface="Consolas"/>
              </a:defRPr>
            </a:pPr>
            <a:r>
              <a:t>import { useSelector } from "react-redux";</a:t>
            </a:r>
          </a:p>
          <a:p>
            <a:pPr>
              <a:spcAft>
                <a:spcPts val="900"/>
              </a:spcAft>
              <a:defRPr sz="2000" b="0">
                <a:solidFill>
                  <a:srgbClr val="DAEBF9"/>
                </a:solidFill>
                <a:latin typeface="Consolas"/>
              </a:defRPr>
            </a:pPr>
            <a:r>
              <a:t>import type { RootState } from "../../app/store";</a:t>
            </a:r>
          </a:p>
          <a:p>
            <a:pPr>
              <a:spcAft>
                <a:spcPts val="900"/>
              </a:spcAft>
              <a:defRPr sz="2000" b="0">
                <a:solidFill>
                  <a:srgbClr val="DAEBF9"/>
                </a:solidFill>
                <a:latin typeface="Consolas"/>
              </a:defRPr>
            </a:pPr>
            <a:endParaRPr/>
          </a:p>
          <a:p>
            <a:pPr>
              <a:spcAft>
                <a:spcPts val="900"/>
              </a:spcAft>
              <a:defRPr sz="2000" b="0">
                <a:solidFill>
                  <a:srgbClr val="DAEBF9"/>
                </a:solidFill>
                <a:latin typeface="Consolas"/>
              </a:defRPr>
            </a:pPr>
            <a:r>
              <a:t>const count = useSelector(</a:t>
            </a:r>
          </a:p>
          <a:p>
            <a:pPr>
              <a:spcAft>
                <a:spcPts val="900"/>
              </a:spcAft>
              <a:defRPr sz="2000" b="0">
                <a:solidFill>
                  <a:srgbClr val="DAEBF9"/>
                </a:solidFill>
                <a:latin typeface="Consolas"/>
              </a:defRPr>
            </a:pPr>
            <a:r>
              <a:t>  (state: RootState) =&gt; state.counter.value</a:t>
            </a:r>
          </a:p>
          <a:p>
            <a:pPr>
              <a:spcAft>
                <a:spcPts val="900"/>
              </a:spcAft>
              <a:defRPr sz="2000" b="0">
                <a:solidFill>
                  <a:srgbClr val="DAEBF9"/>
                </a:solidFill>
                <a:latin typeface="Consolas"/>
              </a:defRPr>
            </a:pPr>
            <a:r>
              <a:t>);</a:t>
            </a:r>
          </a:p>
          <a:p>
            <a:pPr>
              <a:spcAft>
                <a:spcPts val="900"/>
              </a:spcAft>
              <a:defRPr sz="2000" b="0">
                <a:solidFill>
                  <a:srgbClr val="DAEBF9"/>
                </a:solidFill>
                <a:latin typeface="Consolas"/>
              </a:defRPr>
            </a:pPr>
            <a:endParaRPr/>
          </a:p>
          <a:p>
            <a:pPr>
              <a:spcAft>
                <a:spcPts val="900"/>
              </a:spcAft>
              <a:defRPr sz="2000" b="0">
                <a:solidFill>
                  <a:srgbClr val="DAEBF9"/>
                </a:solidFill>
                <a:latin typeface="Consolas"/>
              </a:defRPr>
            </a:pPr>
            <a:r>
              <a:t>return &lt;h2&gt;Counter: {count}&lt;/h2&gt;;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57424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6EE5AC"/>
                </a:solidFill>
                <a:latin typeface="Aptos"/>
              </a:defRPr>
            </a:pPr>
            <a:r>
              <a:t>The component re-renders when its selected value changes.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38912" y="448056"/>
            <a:ext cx="73152" cy="329184"/>
          </a:xfrm>
          <a:prstGeom prst="rect">
            <a:avLst/>
          </a:prstGeom>
          <a:solidFill>
            <a:srgbClr val="A17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9319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00" b="1">
                <a:solidFill>
                  <a:srgbClr val="41D7DA"/>
                </a:solidFill>
                <a:latin typeface="Aptos"/>
              </a:defRPr>
            </a:pPr>
            <a:r>
              <a:t>REDUX TOOLKIT • REACT + TYPESCRIPT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4183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3100" b="1">
                <a:solidFill>
                  <a:srgbClr val="F1F5FC"/>
                </a:solidFill>
                <a:latin typeface="Aptos"/>
              </a:defRPr>
            </a:pPr>
            <a:r>
              <a:t>Step 6 — Update state with dispatch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73952"/>
            <a:ext cx="10881360" cy="16459"/>
          </a:xfrm>
          <a:prstGeom prst="rect">
            <a:avLst/>
          </a:prstGeom>
          <a:solidFill>
            <a:srgbClr val="414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607040" y="651967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A3B1CA"/>
                </a:solidFill>
                <a:latin typeface="Aptos"/>
              </a:defRPr>
            </a:pPr>
            <a:r>
              <a:t>14 /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74519"/>
            <a:ext cx="10881360" cy="4343400"/>
          </a:xfrm>
          <a:prstGeom prst="roundRect">
            <a:avLst/>
          </a:prstGeom>
          <a:solidFill>
            <a:srgbClr val="1821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2075688"/>
            <a:ext cx="1037844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DAEBF9"/>
                </a:solidFill>
                <a:latin typeface="Consolas"/>
              </a:defRPr>
            </a:pPr>
            <a:r>
              <a:t>import { useDispatch } from "react-redux";</a:t>
            </a:r>
          </a:p>
          <a:p>
            <a:pPr>
              <a:spcAft>
                <a:spcPts val="900"/>
              </a:spcAft>
              <a:defRPr sz="1700" b="0">
                <a:solidFill>
                  <a:srgbClr val="DAEBF9"/>
                </a:solidFill>
                <a:latin typeface="Consolas"/>
              </a:defRPr>
            </a:pPr>
            <a:r>
              <a:t>import { increment, decrement, reset } from "./counterSlice";</a:t>
            </a:r>
          </a:p>
          <a:p>
            <a:pPr>
              <a:spcAft>
                <a:spcPts val="900"/>
              </a:spcAft>
              <a:defRPr sz="1700" b="0">
                <a:solidFill>
                  <a:srgbClr val="DAEBF9"/>
                </a:solidFill>
                <a:latin typeface="Consolas"/>
              </a:defRPr>
            </a:pPr>
            <a:r>
              <a:t>import type { AppDispatch } from "../../app/store";</a:t>
            </a:r>
          </a:p>
          <a:p>
            <a:pPr>
              <a:spcAft>
                <a:spcPts val="900"/>
              </a:spcAft>
              <a:defRPr sz="1700" b="0">
                <a:solidFill>
                  <a:srgbClr val="DAEBF9"/>
                </a:solidFill>
                <a:latin typeface="Consolas"/>
              </a:defRPr>
            </a:pPr>
            <a:endParaRPr/>
          </a:p>
          <a:p>
            <a:pPr>
              <a:spcAft>
                <a:spcPts val="900"/>
              </a:spcAft>
              <a:defRPr sz="1700" b="0">
                <a:solidFill>
                  <a:srgbClr val="DAEBF9"/>
                </a:solidFill>
                <a:latin typeface="Consolas"/>
              </a:defRPr>
            </a:pPr>
            <a:r>
              <a:t>const dispatch = useDispatch&lt;AppDispatch&gt;();</a:t>
            </a:r>
          </a:p>
          <a:p>
            <a:pPr>
              <a:spcAft>
                <a:spcPts val="900"/>
              </a:spcAft>
              <a:defRPr sz="1700" b="0">
                <a:solidFill>
                  <a:srgbClr val="DAEBF9"/>
                </a:solidFill>
                <a:latin typeface="Consolas"/>
              </a:defRPr>
            </a:pPr>
            <a:endParaRPr/>
          </a:p>
          <a:p>
            <a:pPr>
              <a:spcAft>
                <a:spcPts val="900"/>
              </a:spcAft>
              <a:defRPr sz="1700" b="0">
                <a:solidFill>
                  <a:srgbClr val="DAEBF9"/>
                </a:solidFill>
                <a:latin typeface="Consolas"/>
              </a:defRPr>
            </a:pPr>
            <a:r>
              <a:t>&lt;button onClick={() =&gt; dispatch(increment())}&gt;+&lt;/button&gt;</a:t>
            </a:r>
          </a:p>
          <a:p>
            <a:pPr>
              <a:spcAft>
                <a:spcPts val="900"/>
              </a:spcAft>
              <a:defRPr sz="1700" b="0">
                <a:solidFill>
                  <a:srgbClr val="DAEBF9"/>
                </a:solidFill>
                <a:latin typeface="Consolas"/>
              </a:defRPr>
            </a:pPr>
            <a:r>
              <a:t>&lt;button onClick={() =&gt; dispatch(decrement())}&gt;-&lt;/button&gt;</a:t>
            </a:r>
          </a:p>
          <a:p>
            <a:pPr>
              <a:spcAft>
                <a:spcPts val="900"/>
              </a:spcAft>
              <a:defRPr sz="1700" b="0">
                <a:solidFill>
                  <a:srgbClr val="DAEBF9"/>
                </a:solidFill>
                <a:latin typeface="Consolas"/>
              </a:defRPr>
            </a:pPr>
            <a:r>
              <a:t>&lt;button onClick={() =&gt; dispatch(reset())}&gt;Reset&lt;/button&gt;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38912" y="448056"/>
            <a:ext cx="73152" cy="329184"/>
          </a:xfrm>
          <a:prstGeom prst="rect">
            <a:avLst/>
          </a:prstGeom>
          <a:solidFill>
            <a:srgbClr val="A17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9319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00" b="1">
                <a:solidFill>
                  <a:srgbClr val="41D7DA"/>
                </a:solidFill>
                <a:latin typeface="Aptos"/>
              </a:defRPr>
            </a:pPr>
            <a:r>
              <a:t>REDUX TOOLKIT • REACT + TYPESCRIPT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4183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3100" b="1">
                <a:solidFill>
                  <a:srgbClr val="F1F5FC"/>
                </a:solidFill>
                <a:latin typeface="Aptos"/>
              </a:defRPr>
            </a:pPr>
            <a:r>
              <a:t>Bonus — Pass data using action.payload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73952"/>
            <a:ext cx="10881360" cy="16459"/>
          </a:xfrm>
          <a:prstGeom prst="rect">
            <a:avLst/>
          </a:prstGeom>
          <a:solidFill>
            <a:srgbClr val="414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607040" y="651967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A3B1CA"/>
                </a:solidFill>
                <a:latin typeface="Aptos"/>
              </a:defRPr>
            </a:pPr>
            <a:r>
              <a:t>15 /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01952"/>
            <a:ext cx="10881360" cy="4160520"/>
          </a:xfrm>
          <a:prstGeom prst="roundRect">
            <a:avLst/>
          </a:prstGeom>
          <a:solidFill>
            <a:srgbClr val="1821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2103120"/>
            <a:ext cx="10378440" cy="3794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DAEBF9"/>
                </a:solidFill>
                <a:latin typeface="Consolas"/>
              </a:defRPr>
            </a:pPr>
            <a:r>
              <a:t>import type { PayloadAction } from "@reduxjs/toolkit";</a:t>
            </a:r>
          </a:p>
          <a:p>
            <a:pPr>
              <a:spcAft>
                <a:spcPts val="900"/>
              </a:spcAft>
              <a:defRPr sz="1800" b="0">
                <a:solidFill>
                  <a:srgbClr val="DAEBF9"/>
                </a:solidFill>
                <a:latin typeface="Consolas"/>
              </a:defRPr>
            </a:pPr>
            <a:endParaRPr/>
          </a:p>
          <a:p>
            <a:pPr>
              <a:spcAft>
                <a:spcPts val="900"/>
              </a:spcAft>
              <a:defRPr sz="1800" b="0">
                <a:solidFill>
                  <a:srgbClr val="DAEBF9"/>
                </a:solidFill>
                <a:latin typeface="Consolas"/>
              </a:defRPr>
            </a:pPr>
            <a:r>
              <a:t>// Add this reducer inside createSlice.reducers</a:t>
            </a:r>
          </a:p>
          <a:p>
            <a:pPr>
              <a:spcAft>
                <a:spcPts val="900"/>
              </a:spcAft>
              <a:defRPr sz="1800" b="0">
                <a:solidFill>
                  <a:srgbClr val="DAEBF9"/>
                </a:solidFill>
                <a:latin typeface="Consolas"/>
              </a:defRPr>
            </a:pPr>
            <a:r>
              <a:t>incrementByAmount: (state, action: PayloadAction&lt;number&gt;) =&gt; {</a:t>
            </a:r>
          </a:p>
          <a:p>
            <a:pPr>
              <a:spcAft>
                <a:spcPts val="900"/>
              </a:spcAft>
              <a:defRPr sz="1800" b="0">
                <a:solidFill>
                  <a:srgbClr val="DAEBF9"/>
                </a:solidFill>
                <a:latin typeface="Consolas"/>
              </a:defRPr>
            </a:pPr>
            <a:r>
              <a:t>  state.value += action.payload;</a:t>
            </a:r>
          </a:p>
          <a:p>
            <a:pPr>
              <a:spcAft>
                <a:spcPts val="900"/>
              </a:spcAft>
              <a:defRPr sz="1800" b="0">
                <a:solidFill>
                  <a:srgbClr val="DAEBF9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900"/>
              </a:spcAft>
              <a:defRPr sz="1800" b="0">
                <a:solidFill>
                  <a:srgbClr val="DAEBF9"/>
                </a:solidFill>
                <a:latin typeface="Consolas"/>
              </a:defRPr>
            </a:pPr>
            <a:endParaRPr/>
          </a:p>
          <a:p>
            <a:pPr>
              <a:spcAft>
                <a:spcPts val="900"/>
              </a:spcAft>
              <a:defRPr sz="1800" b="0">
                <a:solidFill>
                  <a:srgbClr val="DAEBF9"/>
                </a:solidFill>
                <a:latin typeface="Consolas"/>
              </a:defRPr>
            </a:pPr>
            <a:r>
              <a:t>// Dispatch from a component</a:t>
            </a:r>
          </a:p>
          <a:p>
            <a:pPr>
              <a:spcAft>
                <a:spcPts val="900"/>
              </a:spcAft>
              <a:defRPr sz="1800" b="0">
                <a:solidFill>
                  <a:srgbClr val="DAEBF9"/>
                </a:solidFill>
                <a:latin typeface="Consolas"/>
              </a:defRPr>
            </a:pPr>
            <a:r>
              <a:t>dispatch(incrementByAmount(5));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606247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6EE5AC"/>
                </a:solidFill>
                <a:latin typeface="Aptos"/>
              </a:defRPr>
            </a:pPr>
            <a:r>
              <a:t>Payload carries the value needed to perform the update.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38912" y="448056"/>
            <a:ext cx="73152" cy="329184"/>
          </a:xfrm>
          <a:prstGeom prst="rect">
            <a:avLst/>
          </a:prstGeom>
          <a:solidFill>
            <a:srgbClr val="A17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9319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00" b="1">
                <a:solidFill>
                  <a:srgbClr val="41D7DA"/>
                </a:solidFill>
                <a:latin typeface="Aptos"/>
              </a:defRPr>
            </a:pPr>
            <a:r>
              <a:t>REDUX TOOLKIT • REACT + TYPESCRIPT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4183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3100" b="1">
                <a:solidFill>
                  <a:srgbClr val="F1F5FC"/>
                </a:solidFill>
                <a:latin typeface="Aptos"/>
              </a:defRPr>
            </a:pPr>
            <a:r>
              <a:t>Redux vs local React state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73952"/>
            <a:ext cx="10881360" cy="16459"/>
          </a:xfrm>
          <a:prstGeom prst="rect">
            <a:avLst/>
          </a:prstGeom>
          <a:solidFill>
            <a:srgbClr val="414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607040" y="651967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A3B1CA"/>
                </a:solidFill>
                <a:latin typeface="Aptos"/>
              </a:defRPr>
            </a:pPr>
            <a:r>
              <a:t>16 /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084831"/>
            <a:ext cx="3486911" cy="3246120"/>
          </a:xfrm>
          <a:prstGeom prst="roundRect">
            <a:avLst/>
          </a:prstGeom>
          <a:solidFill>
            <a:srgbClr val="1821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9536" y="2432304"/>
            <a:ext cx="3075431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41D7DA"/>
                </a:solidFill>
                <a:latin typeface="Aptos"/>
              </a:defRPr>
            </a:pPr>
            <a:r>
              <a:t>useState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3236976"/>
            <a:ext cx="3075431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F1F5FC"/>
                </a:solidFill>
                <a:latin typeface="Aptos"/>
              </a:defRPr>
            </a:pPr>
            <a:r>
              <a:t>Great for local form fields, toggles, and component-only UI state.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7304" y="2084831"/>
            <a:ext cx="3486911" cy="3246120"/>
          </a:xfrm>
          <a:prstGeom prst="roundRect">
            <a:avLst/>
          </a:prstGeom>
          <a:solidFill>
            <a:srgbClr val="1821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56760" y="2432304"/>
            <a:ext cx="3075431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41D7DA"/>
                </a:solidFill>
                <a:latin typeface="Aptos"/>
              </a:defRPr>
            </a:pPr>
            <a:r>
              <a:t>Redux Toolkit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6760" y="3236976"/>
            <a:ext cx="3075431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F1F5FC"/>
                </a:solidFill>
                <a:latin typeface="Aptos"/>
              </a:defRPr>
            </a:pPr>
            <a:r>
              <a:t>Great for shared cart data, authenticated user data, and cross-page state.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34527" y="2084831"/>
            <a:ext cx="3486911" cy="3246120"/>
          </a:xfrm>
          <a:prstGeom prst="roundRect">
            <a:avLst/>
          </a:prstGeom>
          <a:solidFill>
            <a:srgbClr val="1821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53983" y="2432304"/>
            <a:ext cx="3075431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41D7DA"/>
                </a:solidFill>
                <a:latin typeface="Aptos"/>
              </a:defRPr>
            </a:pPr>
            <a:r>
              <a:t>Rule of thumb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3983" y="3236976"/>
            <a:ext cx="3075431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F1F5FC"/>
                </a:solidFill>
                <a:latin typeface="Aptos"/>
              </a:defRPr>
            </a:pPr>
            <a:r>
              <a:t>Keep state local until several parts of the app genuinely need to share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57150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 b="0">
                <a:solidFill>
                  <a:srgbClr val="6EE5AC"/>
                </a:solidFill>
                <a:latin typeface="Aptos"/>
              </a:defRPr>
            </a:pPr>
            <a:r>
              <a:t>Redux does not replace every useState call.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38912" y="448056"/>
            <a:ext cx="73152" cy="329184"/>
          </a:xfrm>
          <a:prstGeom prst="rect">
            <a:avLst/>
          </a:prstGeom>
          <a:solidFill>
            <a:srgbClr val="A17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9319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00" b="1">
                <a:solidFill>
                  <a:srgbClr val="41D7DA"/>
                </a:solidFill>
                <a:latin typeface="Aptos"/>
              </a:defRPr>
            </a:pPr>
            <a:r>
              <a:t>REDUX TOOLKIT • REACT + TYPESCRIPT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4183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3100" b="1">
                <a:solidFill>
                  <a:srgbClr val="F1F5FC"/>
                </a:solidFill>
                <a:latin typeface="Aptos"/>
              </a:defRPr>
            </a:pPr>
            <a:r>
              <a:t>Recap + your next hands-on exercise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73952"/>
            <a:ext cx="10881360" cy="16459"/>
          </a:xfrm>
          <a:prstGeom prst="rect">
            <a:avLst/>
          </a:prstGeom>
          <a:solidFill>
            <a:srgbClr val="414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607040" y="651967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A3B1CA"/>
                </a:solidFill>
                <a:latin typeface="Aptos"/>
              </a:defRPr>
            </a:pPr>
            <a:r>
              <a:t>17 /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075688"/>
            <a:ext cx="91440" cy="91440"/>
          </a:xfrm>
          <a:prstGeom prst="roundRect">
            <a:avLst/>
          </a:prstGeom>
          <a:solidFill>
            <a:srgbClr val="41D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15568" y="1965960"/>
            <a:ext cx="1014984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F1F5FC"/>
                </a:solidFill>
                <a:latin typeface="Aptos"/>
              </a:defRPr>
            </a:pPr>
            <a:r>
              <a:t>Store holds the application state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807208"/>
            <a:ext cx="91440" cy="91440"/>
          </a:xfrm>
          <a:prstGeom prst="roundRect">
            <a:avLst/>
          </a:prstGeom>
          <a:solidFill>
            <a:srgbClr val="41D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15568" y="2697480"/>
            <a:ext cx="1014984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F1F5FC"/>
                </a:solidFill>
                <a:latin typeface="Aptos"/>
              </a:defRPr>
            </a:pPr>
            <a:r>
              <a:t>Slice defines initial state, reducers, and actions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538728"/>
            <a:ext cx="91440" cy="91440"/>
          </a:xfrm>
          <a:prstGeom prst="roundRect">
            <a:avLst/>
          </a:prstGeom>
          <a:solidFill>
            <a:srgbClr val="41D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15568" y="3429000"/>
            <a:ext cx="1014984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F1F5FC"/>
                </a:solidFill>
                <a:latin typeface="Aptos"/>
              </a:defRPr>
            </a:pPr>
            <a:r>
              <a:t>Provider exposes the store to React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270248"/>
            <a:ext cx="91440" cy="91440"/>
          </a:xfrm>
          <a:prstGeom prst="roundRect">
            <a:avLst/>
          </a:prstGeom>
          <a:solidFill>
            <a:srgbClr val="41D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15568" y="4160520"/>
            <a:ext cx="1014984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F1F5FC"/>
                </a:solidFill>
                <a:latin typeface="Aptos"/>
              </a:defRPr>
            </a:pPr>
            <a:r>
              <a:t>useSelector reads; dispatch sends actions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5001768"/>
            <a:ext cx="91440" cy="91440"/>
          </a:xfrm>
          <a:prstGeom prst="roundRect">
            <a:avLst/>
          </a:prstGeom>
          <a:solidFill>
            <a:srgbClr val="41D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15568" y="4892040"/>
            <a:ext cx="1014984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F1F5FC"/>
                </a:solidFill>
                <a:latin typeface="Aptos"/>
              </a:defRPr>
            </a:pPr>
            <a:r>
              <a:t>Next lab: product list + shopping cart + quantity + totals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5943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41D7DA"/>
                </a:solidFill>
                <a:latin typeface="Aptos"/>
              </a:defRPr>
            </a:pPr>
            <a:r>
              <a:t>Run the demo: npm run dev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1055</Words>
  <Application>Microsoft Office PowerPoint</Application>
  <PresentationFormat>Widescreen</PresentationFormat>
  <Paragraphs>192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Nikhil Shah</dc:creator>
  <cp:keywords/>
  <dc:description>generated using python-pptx</dc:description>
  <cp:lastModifiedBy>Nikhil Shah</cp:lastModifiedBy>
  <cp:revision>1</cp:revision>
  <dcterms:created xsi:type="dcterms:W3CDTF">2013-01-27T09:14:16Z</dcterms:created>
  <dcterms:modified xsi:type="dcterms:W3CDTF">2026-10-08T16:11:15Z</dcterms:modified>
  <cp:category/>
</cp:coreProperties>
</file>